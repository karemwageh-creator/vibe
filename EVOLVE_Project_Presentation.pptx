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42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097280"/>
            <a:ext cx="731520" cy="731520"/>
          </a:xfrm>
          <a:prstGeom prst="roundRect">
            <a:avLst>
              <a:gd name="adj" fmla="val 18750"/>
            </a:avLst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0972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828800" y="118872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EVOLVE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914400" y="210312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 Learning Recommendation &amp; Staged Mastery MVP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914400" y="292608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CCFB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Turning a predefined 51-subject university curriculum into a trustworthy, staged path: theory, problem sets, and applied projects.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914400" y="4389120"/>
            <a:ext cx="1874520" cy="411480"/>
          </a:xfrm>
          <a:prstGeom prst="roundRect">
            <a:avLst>
              <a:gd name="adj" fmla="val 17778"/>
            </a:avLst>
          </a:prstGeom>
          <a:solidFill>
            <a:srgbClr val="115E59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4389120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Authoritative 51-Subject Catalog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926080" y="4389120"/>
            <a:ext cx="1874520" cy="411480"/>
          </a:xfrm>
          <a:prstGeom prst="roundRect">
            <a:avLst>
              <a:gd name="adj" fmla="val 17778"/>
            </a:avLst>
          </a:prstGeom>
          <a:solidFill>
            <a:srgbClr val="115E59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26080" y="4389120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Evidence-Based Curation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937760" y="4389120"/>
            <a:ext cx="1874520" cy="411480"/>
          </a:xfrm>
          <a:prstGeom prst="roundRect">
            <a:avLst>
              <a:gd name="adj" fmla="val 17778"/>
            </a:avLst>
          </a:prstGeom>
          <a:solidFill>
            <a:srgbClr val="115E59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4389120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1 Core Competence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949440" y="4389120"/>
            <a:ext cx="1874520" cy="411480"/>
          </a:xfrm>
          <a:prstGeom prst="roundRect">
            <a:avLst>
              <a:gd name="adj" fmla="val 17778"/>
            </a:avLst>
          </a:prstGeom>
          <a:solidFill>
            <a:srgbClr val="115E59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49440" y="4389120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Applied Capstone Projects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8961120" y="4389120"/>
            <a:ext cx="1874520" cy="411480"/>
          </a:xfrm>
          <a:prstGeom prst="roundRect">
            <a:avLst>
              <a:gd name="adj" fmla="val 17778"/>
            </a:avLst>
          </a:prstGeom>
          <a:solidFill>
            <a:srgbClr val="115E59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961120" y="4389120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 Gamification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914400" y="56692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F6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&amp; Implementation Brief • Fully Tested &amp; Working MVP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CONTEXT &amp; NEED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Core Problem in Computer Science Self-Study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6400800"/>
            <a:ext cx="10698480" cy="1828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EVOLVE — Predefined CS Curriculum &amp; Staged Mastery Path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0" y="64465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• Computer Science Education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463040"/>
            <a:ext cx="3383280" cy="438912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" y="1737360"/>
            <a:ext cx="2834640" cy="320040"/>
          </a:xfrm>
          <a:prstGeom prst="roundRect">
            <a:avLst>
              <a:gd name="adj" fmla="val 14286"/>
            </a:avLst>
          </a:prstGeom>
          <a:solidFill>
            <a:srgbClr val="FEE2E2"/>
          </a:solidFill>
          <a:ln w="6350">
            <a:solidFill>
              <a:srgbClr val="FCA5A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73736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LACKS ACADEMIC ALIGNMENT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05840" y="219456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 Catalog Overload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05840" y="265176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Discovery Paradox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05840" y="3017520"/>
            <a:ext cx="28346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Generic MOOC directories list thousands of courses ranked by popularity or star ratings rather than curricular depth, leaving students overwhelmed without clear prerequisites.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389120" y="1463040"/>
            <a:ext cx="3383280" cy="438912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63440" y="1737360"/>
            <a:ext cx="2834640" cy="320040"/>
          </a:xfrm>
          <a:prstGeom prst="roundRect">
            <a:avLst>
              <a:gd name="adj" fmla="val 14286"/>
            </a:avLst>
          </a:prstGeom>
          <a:solidFill>
            <a:srgbClr val="FEE2E2"/>
          </a:solidFill>
          <a:ln w="6350">
            <a:solidFill>
              <a:srgbClr val="FCA5A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173736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PASSIVE ≠ COMPETENCE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663440" y="219456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Passive Watching Illusion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663440" y="265176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Tutorial Trap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663440" y="3017520"/>
            <a:ext cx="28346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Watching video lectures without substantive, autograded problem sets produces a false sense of mastery. Real competence requires writing code, debugging pointers, and constructing proofs.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046720" y="1463040"/>
            <a:ext cx="3383280" cy="438912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321040" y="1737360"/>
            <a:ext cx="2834640" cy="320040"/>
          </a:xfrm>
          <a:prstGeom prst="roundRect">
            <a:avLst>
              <a:gd name="adj" fmla="val 14286"/>
            </a:avLst>
          </a:prstGeom>
          <a:solidFill>
            <a:srgbClr val="FEE2E2"/>
          </a:solidFill>
          <a:ln w="6350">
            <a:solidFill>
              <a:srgbClr val="FCA5A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21040" y="173736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DISCONNECT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321040" y="219456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Application Bridge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321040" y="265176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Theory Without Practice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321040" y="3017520"/>
            <a:ext cx="28346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finish courses but cannot apply concepts to practical systems. They either copy cookbook tutorials or abandon ambitious projects due to missing foundational checkpoints.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STRATEGY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EVOLVE Solution: High-Signal, Staged Learning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6400800"/>
            <a:ext cx="10698480" cy="1828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EVOLVE — Predefined CS Curriculum &amp; Staged Mastery Path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0" y="64465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• Computer Science Education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463040"/>
            <a:ext cx="5120640" cy="4572000"/>
          </a:xfrm>
          <a:prstGeom prst="roundRect">
            <a:avLst>
              <a:gd name="adj" fmla="val 2400"/>
            </a:avLst>
          </a:prstGeom>
          <a:solidFill>
            <a:srgbClr val="042F2E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182880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CORE QUESTION EVOLVE ANSWERS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97280" y="2194560"/>
            <a:ext cx="43891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7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“For the subject I am studying right now, what is the best reliable path to learn the theory, practice real problems, and build an applied project?”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1097280" y="4206240"/>
            <a:ext cx="4389120" cy="18288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4389120"/>
            <a:ext cx="43891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CFB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EVOLVE matches a university subject to verified, evidence-based courses, authoritative companion textbooks, synthesis checkpoints, and hands-on capstone projects.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0" y="1463040"/>
            <a:ext cx="521208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92240" y="169164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F0FDFA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1691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040880" y="164592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Academic Focus First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040880" y="1965960"/>
            <a:ext cx="4206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 prioritize the subjects the student is currently studying this term over popularity or gamification rank.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17920" y="2971800"/>
            <a:ext cx="521208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92240" y="320040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F0FDFA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92240" y="3200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040880" y="315468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Theory &amp; Practice Together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040880" y="3474720"/>
            <a:ext cx="4206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 primary recommendation requires both conceptual clarity and autograded coding assignments or problem sets.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217920" y="4480560"/>
            <a:ext cx="521208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92240" y="470916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F0FDFA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92240" y="47091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040880" y="466344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Stage-Based Progression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040880" y="4983480"/>
            <a:ext cx="4206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progresses through clear stages: Stage 0 (Prerequisites) → Stage 1 (Core Competence) → Stage 2 (Deepening) → Applied Projects.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CURRICULUM ARCHITECTURE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Authoritative 51-Subject Curriculum Catalog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6400800"/>
            <a:ext cx="10698480" cy="1828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EVOLVE — Predefined CS Curriculum &amp; Staged Mastery Path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0" y="64465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• Computer Science Education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463040"/>
            <a:ext cx="5120640" cy="4572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7373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AUTHORITATIVE CATALOG RULES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05840" y="210312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Canonical Order Preserved: All 51 subjects retain exact curriculum_order (1 to 51) without missing indices.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005840" y="283464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Original Source Naming Preserved: Preserves original names (e.g. "prob and stat", "mutli media", "software mainenance and evolution") alongside clean display titles.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005840" y="356616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Unassigned Semesters Policy: Year/semester assignments are unassigned in the MVP to avoid artificial 4-year guesses.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005840" y="429768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Explicit Active Focus: Students select their university year (1–4) and mark subjects as "Currently Studying" to guide daily recommendations.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005840" y="502920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Honest Curation State: Subjects without verified resources display an honest "In Curation" banner with complete syllabus topics.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17920" y="1463040"/>
            <a:ext cx="5212080" cy="4572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0" y="173736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CURRICULUM CATEGORY BREAKDOWN (51 TOTAL)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92240" y="2103120"/>
            <a:ext cx="4663440" cy="594360"/>
          </a:xfrm>
          <a:prstGeom prst="roundRect">
            <a:avLst>
              <a:gd name="adj" fmla="val 7692"/>
            </a:avLst>
          </a:prstGeom>
          <a:solidFill>
            <a:srgbClr val="FAF9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29400" y="21488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Foundations &amp; Mathematical Principles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9692640" y="214884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Subjects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629400" y="2395728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Discrete maths, Intro to CS, Linear algebra, Prob &amp; stat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492240" y="2761488"/>
            <a:ext cx="4663440" cy="594360"/>
          </a:xfrm>
          <a:prstGeom prst="roundRect">
            <a:avLst>
              <a:gd name="adj" fmla="val 7692"/>
            </a:avLst>
          </a:prstGeom>
          <a:solidFill>
            <a:srgbClr val="FAF9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29400" y="280720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Systems &amp; Architecture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9692640" y="2807208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Subjects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629400" y="3054096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logic, Computer organization, OS, Networks, C++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492240" y="3419856"/>
            <a:ext cx="4663440" cy="594360"/>
          </a:xfrm>
          <a:prstGeom prst="roundRect">
            <a:avLst>
              <a:gd name="adj" fmla="val 7692"/>
            </a:avLst>
          </a:prstGeom>
          <a:solidFill>
            <a:srgbClr val="FAF9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29400" y="346557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Engineering &amp; Lifecycle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9692640" y="3465576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Subjects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629400" y="3712464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SE, OOP, SPM, QA, Verification &amp; validation, Maintenance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492240" y="4078224"/>
            <a:ext cx="4663440" cy="594360"/>
          </a:xfrm>
          <a:prstGeom prst="roundRect">
            <a:avLst>
              <a:gd name="adj" fmla="val 7692"/>
            </a:avLst>
          </a:prstGeom>
          <a:solidFill>
            <a:srgbClr val="FAF9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29400" y="412394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Theory of Computation &amp; Algorithms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9692640" y="4123944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Subjects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629400" y="4370832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structures, Algorithms analysis, Theory of comp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492240" y="4736592"/>
            <a:ext cx="4663440" cy="594360"/>
          </a:xfrm>
          <a:prstGeom prst="roundRect">
            <a:avLst>
              <a:gd name="adj" fmla="val 7692"/>
            </a:avLst>
          </a:prstGeom>
          <a:solidFill>
            <a:srgbClr val="FAF9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629400" y="478231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Applied AI &amp; Intelligent Systems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9692640" y="4782312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Subjects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629400" y="502920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AI, Machine Learning, Soft computing, Software agents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492240" y="5394960"/>
            <a:ext cx="4663440" cy="594360"/>
          </a:xfrm>
          <a:prstGeom prst="roundRect">
            <a:avLst>
              <a:gd name="adj" fmla="val 7692"/>
            </a:avLst>
          </a:prstGeom>
          <a:solidFill>
            <a:srgbClr val="FAF9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629400" y="54406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Specialized Technologies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9692640" y="544068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Subjects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629400" y="5687568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Multimedia, Computer graphics, HCI, Game programming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STANDARDS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Evidence-Based Curation &amp; Transparent Role Labels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6400800"/>
            <a:ext cx="10698480" cy="1828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EVOLVE — Predefined CS Curriculum &amp; Staged Mastery Path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0" y="64465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• Computer Science Education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463040"/>
            <a:ext cx="10698480" cy="1463040"/>
          </a:xfrm>
          <a:prstGeom prst="roundRect">
            <a:avLst>
              <a:gd name="adj" fmla="val 6250"/>
            </a:avLst>
          </a:prstGeom>
          <a:solidFill>
            <a:srgbClr val="F0FDFA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600200"/>
            <a:ext cx="10149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42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RECOMMENDATION CRITERIA — BALANCED CORE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05840" y="1920240"/>
            <a:ext cx="10149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receive the "Primary Recommendation — Balanced Core" label, a course MUST provide: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Video instruction with clear, accurate theoretical foundations.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Substantive, verified problem sets, programming assignments, or labs (passive watching alone is disqualified).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Credible academic institution/instructor with transparent syllabus and functioning official links.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3108960"/>
            <a:ext cx="2560320" cy="29260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2918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Balanced Core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384048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coverage of core outcomes with theory + autograded coding problem sets.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914400" y="4937760"/>
            <a:ext cx="2194560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502920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Examples: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Harvard CS50x, Berkeley CS61B, CMU 15-445, OSTEP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474720" y="3108960"/>
            <a:ext cx="2560320" cy="29260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0" y="32918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Authoritative Book Companion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657600" y="384048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Selected chapters from verified technical and academic publishers.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657600" y="4937760"/>
            <a:ext cx="2194560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0" y="502920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Examples: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CLRS (MIT Press), Stroustrup (Pearson), DDIA (O’Reilly)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217920" y="3108960"/>
            <a:ext cx="2560320" cy="29260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0" y="32918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Alternative Recommendation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0" y="384048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balanced substitute with different teaching style, language, or depth.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400800" y="4937760"/>
            <a:ext cx="2194560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0" y="502920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Examples: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Princeton Algorithms Part I (Coursera Audit), MIT 6.0001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8961120" y="3108960"/>
            <a:ext cx="2560320" cy="29260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0" y="32918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2 Deepening &amp; Advanced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144000" y="384048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Rigorous mathematical proofs, low-level mechanics, and complex edge cases.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9144000" y="4937760"/>
            <a:ext cx="2194560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9" name="Text 27"/>
          <p:cNvSpPr/>
          <p:nvPr/>
        </p:nvSpPr>
        <p:spPr>
          <a:xfrm>
            <a:off x="9144000" y="502920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Examples: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SICP (MIT Press), Effective Modern C++, Tanenbaum MOS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PEDAGOGY &amp; STAGE DESIGN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Progressive Staged Competency Model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6400800"/>
            <a:ext cx="10698480" cy="1828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EVOLVE — Predefined CS Curriculum &amp; Staged Mastery Path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0" y="64465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• Computer Science Education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463040"/>
            <a:ext cx="2560320" cy="457200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1691640"/>
            <a:ext cx="2194560" cy="320040"/>
          </a:xfrm>
          <a:prstGeom prst="roundRect">
            <a:avLst>
              <a:gd name="adj" fmla="val 14286"/>
            </a:avLst>
          </a:prstGeom>
          <a:solidFill>
            <a:srgbClr val="F3F4F6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16916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14400" y="21031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Prerequisites &amp; Catch-Up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25603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Conditional Bridge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14400" y="2971800"/>
            <a:ext cx="21945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Targeted lessons or readings for missing prerequisites. Only suggested when a gap blocks current learning; not required for students with background.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14400" y="5394960"/>
            <a:ext cx="2194560" cy="411480"/>
          </a:xfrm>
          <a:prstGeom prst="roundRect">
            <a:avLst>
              <a:gd name="adj" fmla="val 11111"/>
            </a:avLst>
          </a:prstGeom>
          <a:solidFill>
            <a:srgbClr val="FAF9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539496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Deepening Track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474720" y="1463040"/>
            <a:ext cx="2560320" cy="457200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0" y="1691640"/>
            <a:ext cx="2194560" cy="320040"/>
          </a:xfrm>
          <a:prstGeom prst="roundRect">
            <a:avLst>
              <a:gd name="adj" fmla="val 14286"/>
            </a:avLst>
          </a:prstGeom>
          <a:solidFill>
            <a:srgbClr val="F0FDFA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0" y="16916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1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657600" y="21031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Competence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657600" y="25603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Target (MVP Focus)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657600" y="2971800"/>
            <a:ext cx="21945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theory + practical problem-solving. Includes primary balanced course, selected readings, required problem sets, and a subject synthesis checkpoint.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0" y="5394960"/>
            <a:ext cx="2194560" cy="411480"/>
          </a:xfrm>
          <a:prstGeom prst="roundRect">
            <a:avLst>
              <a:gd name="adj" fmla="val 11111"/>
            </a:avLst>
          </a:prstGeom>
          <a:solidFill>
            <a:srgbClr val="FAF9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0" y="539496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MVP Goal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217920" y="1463040"/>
            <a:ext cx="2560320" cy="457200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0" y="1691640"/>
            <a:ext cx="2194560" cy="320040"/>
          </a:xfrm>
          <a:prstGeom prst="roundRect">
            <a:avLst>
              <a:gd name="adj" fmla="val 14286"/>
            </a:avLst>
          </a:prstGeom>
          <a:solidFill>
            <a:srgbClr val="F5F3FF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0" y="16916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2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400800" y="21031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Deeper Theory &amp; Practice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400800" y="25603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Literature &amp; Proofs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400800" y="2971800"/>
            <a:ext cx="21945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Extends Stage 1 with formal mathematical proofs, complex edge cases, low-level implementation details, or deeper companion textbooks.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400800" y="5394960"/>
            <a:ext cx="2194560" cy="411480"/>
          </a:xfrm>
          <a:prstGeom prst="roundRect">
            <a:avLst>
              <a:gd name="adj" fmla="val 11111"/>
            </a:avLst>
          </a:prstGeom>
          <a:solidFill>
            <a:srgbClr val="FAF9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0" y="539496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Deepening Track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8961120" y="1463040"/>
            <a:ext cx="2560320" cy="457200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144000" y="1691640"/>
            <a:ext cx="2194560" cy="320040"/>
          </a:xfrm>
          <a:prstGeom prst="roundRect">
            <a:avLst>
              <a:gd name="adj" fmla="val 14286"/>
            </a:avLst>
          </a:prstGeom>
          <a:solidFill>
            <a:srgbClr val="FEF3C7"/>
          </a:solidFill>
          <a:ln/>
        </p:spPr>
      </p:sp>
      <p:sp>
        <p:nvSpPr>
          <p:cNvPr id="33" name="Text 31"/>
          <p:cNvSpPr/>
          <p:nvPr/>
        </p:nvSpPr>
        <p:spPr>
          <a:xfrm>
            <a:off x="9144000" y="16916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APPLIED PROJECT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9144000" y="21031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Applied Project Extension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9144000" y="25603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Demonstrable Application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9144000" y="2971800"/>
            <a:ext cx="21945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 after Stage 1 completion. Requires building a functional software artifact with automated tests and architectural design explanations.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9144000" y="5394960"/>
            <a:ext cx="2194560" cy="411480"/>
          </a:xfrm>
          <a:prstGeom prst="roundRect">
            <a:avLst>
              <a:gd name="adj" fmla="val 11111"/>
            </a:avLst>
          </a:prstGeom>
          <a:solidFill>
            <a:srgbClr val="FAF9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144000" y="539496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180–200 XP Capstone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MASTERY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Applied Capstone Projects: Knowledge Put to Work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6400800"/>
            <a:ext cx="10698480" cy="1828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EVOLVE — Predefined CS Curriculum &amp; Staged Mastery Path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0" y="64465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• Computer Science Education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" y="128016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Projects in EVOLVE are surfaced once Stage 1 core competence is achieved. Students must build, test, and document real software.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1737360"/>
            <a:ext cx="52120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1874520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STRUCTURES (CS61B)  •  Java / C++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60120" y="210312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“Gitlet” — Version Control System from Scratch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960120" y="2423160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 content-addressable version control system: SHA-1 blob hashing, directed acyclic commit graph, branch pointers, checkout, and 3-way merge conflict resolution.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60120" y="3154680"/>
            <a:ext cx="4754880" cy="548640"/>
          </a:xfrm>
          <a:prstGeom prst="roundRect">
            <a:avLst>
              <a:gd name="adj" fmla="val 8333"/>
            </a:avLst>
          </a:prstGeom>
          <a:solidFill>
            <a:srgbClr val="FAF9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51560" y="32004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 Criteria: Passes integration test suite for init, add, commit, rm, branch, checkout, and merge without memory corruption.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217920" y="1737360"/>
            <a:ext cx="52120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46520" y="1874520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OPERATING SYSTEMS (OSTEP)  •  C / POSIX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446520" y="210312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Preemptive User-Level Thread Scheduler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446520" y="2423160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a green thread library using setjmp/longjmp or ucontext.h, with a timer interrupt (SIGALRM) simulating preemptive round-robin scheduling, thread yield, join, and mutexes.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446520" y="3154680"/>
            <a:ext cx="4754880" cy="548640"/>
          </a:xfrm>
          <a:prstGeom prst="roundRect">
            <a:avLst>
              <a:gd name="adj" fmla="val 8333"/>
            </a:avLst>
          </a:prstGeom>
          <a:solidFill>
            <a:srgbClr val="FAF9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37960" y="32004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 Criteria: Passes concurrency stress tests ensuring preemption occurs even during infinite CPU loops.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731520" y="4023360"/>
            <a:ext cx="52120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0120" y="4160520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SYSTEMS (CMU 15-445)  •  Modern C++20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960120" y="438912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Disk-Backed Key-Value Storage Engine with WAL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960120" y="4709160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Construct a persistent storage engine featuring an append-only write-ahead log (WAL), in-memory index, binary log compaction, and ARIES crash recovery.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60120" y="5440680"/>
            <a:ext cx="4754880" cy="548640"/>
          </a:xfrm>
          <a:prstGeom prst="roundRect">
            <a:avLst>
              <a:gd name="adj" fmla="val 8333"/>
            </a:avLst>
          </a:prstGeom>
          <a:solidFill>
            <a:srgbClr val="FAF9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51560" y="54864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 Criteria: Verifies zero data loss after ungraceful process kill (kill -9) during active write transactions.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217920" y="4023360"/>
            <a:ext cx="52120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46520" y="4160520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NETWORKS (STANFORD CS144)  •  C++ / Socket API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446520" y="438912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High-Performance Epoll Concurrent HTTP Server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446520" y="4709160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 an event-driven HTTP/1.1 web server using Linux epoll socket multiplexing, handling keep-alive connections, non-blocking I/O, and concurrent streaming.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446520" y="5440680"/>
            <a:ext cx="4754880" cy="548640"/>
          </a:xfrm>
          <a:prstGeom prst="roundRect">
            <a:avLst>
              <a:gd name="adj" fmla="val 8333"/>
            </a:avLst>
          </a:prstGeom>
          <a:solidFill>
            <a:srgbClr val="FAF9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37960" y="54864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 Criteria: Sustains 5,000+ simultaneous connections benchmarked with wrk without dropping requests or leaking file descriptors.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MOTIVATIONAL ARCHITECTURE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 Gamification &amp; Idempotent XP Ledger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6400800"/>
            <a:ext cx="10698480" cy="1828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EVOLVE — Predefined CS Curriculum &amp; Staged Mastery Path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0" y="64465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• Computer Science Education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463040"/>
            <a:ext cx="5120640" cy="4572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6916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 SEPARATION OF ACADEMIC &amp; GAME PROGRESSION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05840" y="20574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University Academic Year (1–4)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1005840" y="233172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Student’s place in their university degree. Never altered by player level or XP.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05840" y="3017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Subject &amp; Stage Progress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005840" y="329184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 through Stages 0–3 and project deliverables for a specific curriculum subject.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05840" y="39776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Learning Evidence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1005840" y="425196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code, passed unit test checks, problem sets, and git repositories.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05840" y="49377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Player Level &amp; XP (1–10)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005840" y="521208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Platform-wide motivational system earned strictly through legitimate first-time study activities.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17920" y="1463040"/>
            <a:ext cx="5212080" cy="4572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92240" y="169164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XP LEDGER &amp; IDEMPOTENT INTEGRITY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92240" y="2011680"/>
            <a:ext cx="4663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First-Time Verified Reward Only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92240" y="2240280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XP is awarded strictly on the initial verified completion. Repeated clicks, refreshes, or resubmissions update notes without duplicating XP.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492240" y="3063240"/>
            <a:ext cx="4663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Immutable Append-Only Ledger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92240" y="3291840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earned point creates a persistent event record containing activity ID, subject name, timestamp, and reward value.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492240" y="4114800"/>
            <a:ext cx="4663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Meaningful Value Weighting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92240" y="4343400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Rewards problem-solving heavily over passive consumption: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Video lesson: 15 XP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Substantive problem set: 70–75 XP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Systems lab: 85 XP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Core synthesis checkpoint: 100 XP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Applied capstone project: 180–200 XP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492240" y="5166360"/>
            <a:ext cx="4663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Streak Resilience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92240" y="5394960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Streaks track daily study habit momentum, but broken streaks never delete earned XP, levels, or completed stages.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&amp; DESIGN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Architecture &amp; Implementation Stack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6400800"/>
            <a:ext cx="10698480" cy="1828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EVOLVE — Predefined CS Curriculum &amp; Staged Mastery Path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0" y="64465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• Computer Science Education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463040"/>
            <a:ext cx="3383280" cy="457200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69164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&amp; UI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005840" y="2011680"/>
            <a:ext cx="2834640" cy="411480"/>
          </a:xfrm>
          <a:prstGeom prst="roundRect">
            <a:avLst>
              <a:gd name="adj" fmla="val 11111"/>
            </a:avLst>
          </a:prstGeom>
          <a:solidFill>
            <a:srgbClr val="FAF9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201168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18 + Vite 6 + Tailwind CSS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005840" y="256032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Engineering Highlights: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05840" y="288036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Component-driven single-page architecture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05840" y="365760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Tailwind design system adhering to calm neutral canvas (#FAF9F6) and soft teal accent (#0F766E)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05840" y="443484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Fully responsive desktop and mobile viewport support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05840" y="521208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Accessible semantic controls and keyboard-friendly navigation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389120" y="1463040"/>
            <a:ext cx="3383280" cy="457200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0" y="169164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SAFETY &amp; DATA MODELS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63440" y="2011680"/>
            <a:ext cx="2834640" cy="411480"/>
          </a:xfrm>
          <a:prstGeom prst="roundRect">
            <a:avLst>
              <a:gd name="adj" fmla="val 11111"/>
            </a:avLst>
          </a:prstGeom>
          <a:solidFill>
            <a:srgbClr val="FAF9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63440" y="201168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TypeScript 5.7 Strict Mode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663440" y="256032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Engineering Highlights: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663440" y="288036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Strict domain typing for Subjects, Resources, Activities, XP Events, and Profiles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663440" y="365760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Zero `any` types across the codebase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663440" y="443484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Guarantees data integrity for all 51 subjects and verified evidence structures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663440" y="521208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Clean build output compiling with zero warnings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046720" y="1463040"/>
            <a:ext cx="3383280" cy="457200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321040" y="169164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&amp; PERSISTENCE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321040" y="2011680"/>
            <a:ext cx="2834640" cy="411480"/>
          </a:xfrm>
          <a:prstGeom prst="roundRect">
            <a:avLst>
              <a:gd name="adj" fmla="val 11111"/>
            </a:avLst>
          </a:prstGeom>
          <a:solidFill>
            <a:srgbClr val="FAF9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321040" y="201168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Reactive Store + LocalStorage + JSON Export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321040" y="256032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Engineering Highlights: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321040" y="288036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Centralized reactive singleton state engine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321040" y="365760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Universal SSR/Node safe storage adapters with fallback handling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321040" y="443484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Append-only XP ledger with idempotent completion logic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321040" y="521208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One-click JSON backup export and restore capability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WALKTHROUGH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Learner Journey &amp; Key Screens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6400800"/>
            <a:ext cx="10698480" cy="1828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EVOLVE — Predefined CS Curriculum &amp; Staged Mastery Path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0" y="64465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• Computer Science Education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463040"/>
            <a:ext cx="33832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1645920"/>
            <a:ext cx="914400" cy="274320"/>
          </a:xfrm>
          <a:prstGeom prst="roundRect">
            <a:avLst>
              <a:gd name="adj" fmla="val 13333"/>
            </a:avLst>
          </a:prstGeom>
          <a:solidFill>
            <a:srgbClr val="F0FDFA"/>
          </a:solidFill>
          <a:ln w="6350">
            <a:solidFill>
              <a:srgbClr val="CCFBF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6459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965960" y="16459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 Dashboard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2057400"/>
            <a:ext cx="3017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 priority action card for the top currently studied subject. Shows active subject progress rings, project unlock spotlights, and independent player gamification stats.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389120" y="1463040"/>
            <a:ext cx="33832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0" y="1645920"/>
            <a:ext cx="914400" cy="274320"/>
          </a:xfrm>
          <a:prstGeom prst="roundRect">
            <a:avLst>
              <a:gd name="adj" fmla="val 13333"/>
            </a:avLst>
          </a:prstGeom>
          <a:solidFill>
            <a:srgbClr val="F0FDFA"/>
          </a:solidFill>
          <a:ln w="6350">
            <a:solidFill>
              <a:srgbClr val="CCFBF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0" y="16459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623560" y="16459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 &amp; Focus Setup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0" y="2057400"/>
            <a:ext cx="3017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modal to select university academic year (1–4) and multi-select currently studied subjects from the 51-subject catalog with real-time search filtering.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046720" y="1463040"/>
            <a:ext cx="33832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29600" y="1645920"/>
            <a:ext cx="914400" cy="274320"/>
          </a:xfrm>
          <a:prstGeom prst="roundRect">
            <a:avLst>
              <a:gd name="adj" fmla="val 13333"/>
            </a:avLst>
          </a:prstGeom>
          <a:solidFill>
            <a:srgbClr val="F0FDFA"/>
          </a:solidFill>
          <a:ln w="6350">
            <a:solidFill>
              <a:srgbClr val="CCFB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0" y="16459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9281160" y="16459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Curriculum (51)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29600" y="2057400"/>
            <a:ext cx="3017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51-subject catalog in preserved sequence. Allows filtering by category (Foundations, Systems, SE, Theory, AI) and toggling active study bookmarks.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31520" y="3840480"/>
            <a:ext cx="33832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14400" y="4023360"/>
            <a:ext cx="914400" cy="274320"/>
          </a:xfrm>
          <a:prstGeom prst="roundRect">
            <a:avLst>
              <a:gd name="adj" fmla="val 13333"/>
            </a:avLst>
          </a:prstGeom>
          <a:solidFill>
            <a:srgbClr val="F0FDFA"/>
          </a:solidFill>
          <a:ln w="6350">
            <a:solidFill>
              <a:srgbClr val="CCFB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40233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4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965960" y="40233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Subject Detail View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14400" y="4434840"/>
            <a:ext cx="3017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Deep-dive with progressive stage tabs (Stage 1 Core, Stage 2 Deepening, Applied Project), ranked resource cards, syllabus outcomes, and activity completion modals.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389120" y="3840480"/>
            <a:ext cx="33832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0" y="4023360"/>
            <a:ext cx="914400" cy="274320"/>
          </a:xfrm>
          <a:prstGeom prst="roundRect">
            <a:avLst>
              <a:gd name="adj" fmla="val 13333"/>
            </a:avLst>
          </a:prstGeom>
          <a:solidFill>
            <a:srgbClr val="F0FDFA"/>
          </a:solidFill>
          <a:ln w="6350">
            <a:solidFill>
              <a:srgbClr val="CCFBF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0" y="40233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5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623560" y="40233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Applied Projects Hub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572000" y="4434840"/>
            <a:ext cx="3017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Dedicated catalog of hands-on software capstones, highlighting readiness checks based on completed Stage 1 core competence.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8046720" y="3840480"/>
            <a:ext cx="33832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229600" y="4023360"/>
            <a:ext cx="914400" cy="274320"/>
          </a:xfrm>
          <a:prstGeom prst="roundRect">
            <a:avLst>
              <a:gd name="adj" fmla="val 13333"/>
            </a:avLst>
          </a:prstGeom>
          <a:solidFill>
            <a:srgbClr val="F0FDFA"/>
          </a:solidFill>
          <a:ln w="6350">
            <a:solidFill>
              <a:srgbClr val="CCFBF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229600" y="40233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6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9281160" y="40233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 &amp; XP Ledger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229600" y="4434840"/>
            <a:ext cx="3017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Auditable append-only ledger displaying timestamped XP transactions, streak counter, unlocked achievement badges, and JSON backup export/import tools.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 &amp; TESTING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Assurance &amp; Acceptance Criteria Report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6400800"/>
            <a:ext cx="10698480" cy="1828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EVOLVE — Predefined CS Curriculum &amp; Staged Mastery Path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0" y="64465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• Computer Science Education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463040"/>
            <a:ext cx="25603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60020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TESTS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14400" y="18288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9 Passing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14400" y="224028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scripts/verify-mvp.cjs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474720" y="1463040"/>
            <a:ext cx="25603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0" y="160020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CURRICULUM ORDER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657600" y="18288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 / 51 Preserved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657600" y="224028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Exact 1 to 51 canonical order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217920" y="1463040"/>
            <a:ext cx="25603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0" y="160020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BUILD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400800" y="18288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Errors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00800" y="224028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tsc &amp;&amp; vite build in 1.7s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8961120" y="1463040"/>
            <a:ext cx="25603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0" y="160020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CREDENTIAL BLOCKER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9144000" y="18288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 (Zero)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144000" y="224028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Self-contained client persistence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31520" y="2834640"/>
            <a:ext cx="106984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05840" y="2971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15 ACCEPTANCE CRITERIA MATRIX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005840" y="3337560"/>
            <a:ext cx="10149840" cy="365760"/>
          </a:xfrm>
          <a:prstGeom prst="rect">
            <a:avLst/>
          </a:prstGeom>
          <a:solidFill>
            <a:srgbClr val="FAF9F6"/>
          </a:solidFill>
          <a:ln/>
        </p:spPr>
      </p:sp>
      <p:sp>
        <p:nvSpPr>
          <p:cNvPr id="26" name="Text 24"/>
          <p:cNvSpPr/>
          <p:nvPr/>
        </p:nvSpPr>
        <p:spPr>
          <a:xfrm>
            <a:off x="1097280" y="33832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 1-2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2103120" y="338328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 creation, academic year (1-4) &amp; multi-subject selection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583680" y="33832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772400" y="33832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ProfileModal with search and persistent localStorage storage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1005840" y="3767328"/>
            <a:ext cx="1014984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1097280" y="381304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 3-4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2103120" y="3813048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ranking for current subjects &amp; transparent recommendation cards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583680" y="381304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772400" y="381304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1 ranking, why recommended, topics, and known scope gaps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1005840" y="4197096"/>
            <a:ext cx="10149840" cy="365760"/>
          </a:xfrm>
          <a:prstGeom prst="rect">
            <a:avLst/>
          </a:prstGeom>
          <a:solidFill>
            <a:srgbClr val="FAF9F6"/>
          </a:solidFill>
          <a:ln/>
        </p:spPr>
      </p:sp>
      <p:sp>
        <p:nvSpPr>
          <p:cNvPr id="36" name="Text 34"/>
          <p:cNvSpPr/>
          <p:nvPr/>
        </p:nvSpPr>
        <p:spPr>
          <a:xfrm>
            <a:off x="1097280" y="424281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 5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2103120" y="4242816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Uncurated resources not shown as verified; honest pending state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583680" y="4242816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7772400" y="424281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uncurated subjects show syllabus and pending banner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1005840" y="4626864"/>
            <a:ext cx="1014984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1" name="Text 39"/>
          <p:cNvSpPr/>
          <p:nvPr/>
        </p:nvSpPr>
        <p:spPr>
          <a:xfrm>
            <a:off x="1097280" y="467258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 6-7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2103120" y="4672584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Activity completion, immutable XP ledger &amp; anti-double-award idempotency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583680" y="4672584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7772400" y="467258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Checked against XP ledger; re-clicking never doubles XP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1005840" y="5056632"/>
            <a:ext cx="10149840" cy="365760"/>
          </a:xfrm>
          <a:prstGeom prst="rect">
            <a:avLst/>
          </a:prstGeom>
          <a:solidFill>
            <a:srgbClr val="FAF9F6"/>
          </a:solidFill>
          <a:ln/>
        </p:spPr>
      </p:sp>
      <p:sp>
        <p:nvSpPr>
          <p:cNvPr id="46" name="Text 44"/>
          <p:cNvSpPr/>
          <p:nvPr/>
        </p:nvSpPr>
        <p:spPr>
          <a:xfrm>
            <a:off x="1097280" y="51023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 8-9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2103120" y="5102352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persistence &amp; player level strictly independent of university year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6583680" y="510235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7772400" y="51023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Isolated level formula (1-10) with JSON backup export/import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1005840" y="5486400"/>
            <a:ext cx="1014984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1" name="Text 49"/>
          <p:cNvSpPr/>
          <p:nvPr/>
        </p:nvSpPr>
        <p:spPr>
          <a:xfrm>
            <a:off x="1097280" y="55321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 10-12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2103120" y="553212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surfacing on Stage 1 completion; no fake AI claims or stats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6583680" y="55321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7772400" y="55321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Factual evidence citations (OSSU, TeachYourselfCS, MIT OCW)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42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31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 &amp; FUTURE ROADMAP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14400" y="10972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EVOLVE: Trustworthy, Staged CS Learning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914400" y="1920240"/>
            <a:ext cx="5029200" cy="4023360"/>
          </a:xfrm>
          <a:prstGeom prst="roundRect">
            <a:avLst>
              <a:gd name="adj" fmla="val 2273"/>
            </a:avLst>
          </a:prstGeom>
          <a:solidFill>
            <a:srgbClr val="115E59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88720" y="210312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9F6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DELIVERED IN MVP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88720" y="2514600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51-Subject Authoritative Curriculum strictly ordered 1 to 51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88720" y="2953512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21 Foundational Subjects with verified courses, books &amp; projects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88720" y="3392424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30 Uncurated Subjects with honest pending curation banners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88720" y="3831336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Staged Competency Model: Stage 1 Core, Stage 2 Deepening, Projects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88720" y="4270248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Idempotent XP Ledger and independent Player Level progression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88720" y="4709160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Zero External Blockers: 100% self-contained and reproducible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88720" y="5148072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Passing Automated Domain Verification Suite (npm test)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17920" y="1920240"/>
            <a:ext cx="5029200" cy="4023360"/>
          </a:xfrm>
          <a:prstGeom prst="roundRect">
            <a:avLst>
              <a:gd name="adj" fmla="val 2273"/>
            </a:avLst>
          </a:prstGeom>
          <a:solidFill>
            <a:srgbClr val="115E59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210312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9F6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HORIZONS (POST-MVP)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92240" y="2514600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CCFB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Curate Remaining 30 Subjects with faculty review boards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92240" y="2953512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CCFB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Ingest Authoritative Semester Mapping when officially released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92240" y="3392424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CCFB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University Syllabus Parser (PDF / Markdown syllabus import)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92240" y="3831336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CCFB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Interactive Code Sandbox Integration (web-assembly C++ / Python)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92240" y="4270248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CCFB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Multi-language Support with native Arabic RTL layout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92240" y="4709160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CCFB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Expanded Capstone Project autograders via GitHub Classroom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92240" y="5148072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CCFB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Collaborative study groups with verified peer code reviews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EVOLVE CS Learning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EVOLVE — Project Presentation</dc:title>
  <dc:subject>EVOLVE — Predefined CS Curriculum &amp; Staged Learning Recommendation MVP</dc:subject>
  <dc:creator>EVOLVE Product Team</dc:creator>
  <cp:lastModifiedBy>EVOLVE Product Team</cp:lastModifiedBy>
  <cp:revision>1.0</cp:revision>
  <dcterms:created xsi:type="dcterms:W3CDTF">2026-10-26T16:57:41Z</dcterms:created>
  <dcterms:modified xsi:type="dcterms:W3CDTF">2026-10-26T16:57:41Z</dcterms:modified>
</cp:coreProperties>
</file>